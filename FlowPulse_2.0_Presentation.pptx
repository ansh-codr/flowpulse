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2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914400"/>
            <a:ext cx="2286000" cy="22860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2560320"/>
            <a:ext cx="1371600" cy="13716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2926080"/>
            <a:ext cx="914400" cy="9144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1F5F9"/>
                </a:solidFill>
                <a:latin typeface="Calibri"/>
              </a:defRPr>
            </a:pPr>
            <a:r>
              <a:t>FlowPulse 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834640"/>
            <a:ext cx="27432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94A3B8"/>
                </a:solidFill>
                <a:latin typeface="Calibri"/>
              </a:defRPr>
            </a:pPr>
            <a:r>
              <a:t>Browser Extension + Web Dashboard for Productivity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8BDF8"/>
                </a:solidFill>
                <a:latin typeface="Calibri"/>
              </a:defRPr>
            </a:pPr>
            <a:r>
              <a:t>Powered by Firebase  |  Serverless Architecture  |  Real-Time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Project Documentation &amp; Implementation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55448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1F5F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600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5F9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48840"/>
            <a:ext cx="411480" cy="4114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1F5F9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5F9"/>
                </a:solidFill>
                <a:latin typeface="Calibri"/>
              </a:defRPr>
            </a:pPr>
            <a:r>
              <a:t>Problem &amp; Solution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74320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1F5F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88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5F9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33756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1F5F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5F9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931920"/>
            <a:ext cx="411480" cy="41148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1F5F9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77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5F9"/>
                </a:solidFill>
                <a:latin typeface="Calibri"/>
              </a:defRPr>
            </a:pPr>
            <a:r>
              <a:t>System Components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526280"/>
            <a:ext cx="411480" cy="4114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1F5F9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5F9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12064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1F5F9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166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5F9"/>
                </a:solidFill>
                <a:latin typeface="Calibri"/>
              </a:defRPr>
            </a:pPr>
            <a:r>
              <a:t>Functional Requirements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155448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1F5F9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600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5F9"/>
                </a:solidFill>
                <a:latin typeface="Calibri"/>
              </a:defRPr>
            </a:pPr>
            <a:r>
              <a:t>Non-Functional Requirements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148840"/>
            <a:ext cx="411480" cy="41148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1F5F9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5F9"/>
                </a:solidFill>
                <a:latin typeface="Calibri"/>
              </a:defRPr>
            </a:pPr>
            <a:r>
              <a:t>Development Phases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2743200"/>
            <a:ext cx="411480" cy="4114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1F5F9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788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5F9"/>
                </a:solidFill>
                <a:latin typeface="Calibri"/>
              </a:defRPr>
            </a:pPr>
            <a:r>
              <a:t>Implementation Plan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333756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1F5F9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5F9"/>
                </a:solidFill>
                <a:latin typeface="Calibri"/>
              </a:defRPr>
            </a:pPr>
            <a:r>
              <a:t>Completion Criteria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393192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1F5F9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977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5F9"/>
                </a:solidFill>
                <a:latin typeface="Calibri"/>
              </a:defRPr>
            </a:pPr>
            <a:r>
              <a:t>Folder Structure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526280"/>
            <a:ext cx="411480" cy="41148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1F5F9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1F5F9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54864"/>
          </a:xfrm>
          <a:prstGeom prst="roundRect">
            <a:avLst>
              <a:gd name="adj" fmla="val 2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Project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1F5F9"/>
                </a:solidFill>
                <a:latin typeface="Calibri"/>
              </a:defRPr>
            </a:pPr>
            <a:r>
              <a:t>FlowPulse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64592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20439" y="1645920"/>
            <a:ext cx="2560320" cy="54864"/>
          </a:xfrm>
          <a:prstGeom prst="roundRect">
            <a:avLst>
              <a:gd name="adj" fmla="val 2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19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19" y="22860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1F5F9"/>
                </a:solidFill>
                <a:latin typeface="Calibri"/>
              </a:defRPr>
            </a:pPr>
            <a:r>
              <a:t>Browser Extension +</a:t>
            </a:r>
            <a:br/>
            <a:r>
              <a:t>Web Application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64592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59" y="1645920"/>
            <a:ext cx="2560320" cy="54864"/>
          </a:xfrm>
          <a:prstGeom prst="roundRect">
            <a:avLst>
              <a:gd name="adj" fmla="val 2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39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39" y="22860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1F5F9"/>
                </a:solidFill>
                <a:latin typeface="Calibri"/>
              </a:defRPr>
            </a:pPr>
            <a:r>
              <a:t>Serverless</a:t>
            </a:r>
            <a:br/>
            <a:r>
              <a:t>(Firebase-based)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64592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98280" y="1645920"/>
            <a:ext cx="2560320" cy="54864"/>
          </a:xfrm>
          <a:prstGeom prst="roundRect">
            <a:avLst>
              <a:gd name="adj" fmla="val 2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2860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1F5F9"/>
                </a:solidFill>
                <a:latin typeface="Calibri"/>
              </a:defRPr>
            </a:pPr>
            <a:r>
              <a:t>Firebase Auth +</a:t>
            </a:r>
            <a:br/>
            <a:r>
              <a:t>Firestore + Functions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10698480" cy="201168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8BDF8"/>
                </a:solidFill>
                <a:latin typeface="Calibri"/>
              </a:defRPr>
            </a:pPr>
            <a:r>
              <a:t>CORE 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66344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5F9"/>
                </a:solidFill>
                <a:latin typeface="Calibri"/>
              </a:defRPr>
            </a:pPr>
            <a:r>
              <a:t>Track daily web activity, analyze usage patterns, and provide productivity insights through a centralized dashboard using Firebase backend.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Problem &amp;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54864"/>
          </a:xfrm>
          <a:prstGeom prst="roundRect">
            <a:avLst>
              <a:gd name="adj" fmla="val 2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92024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1F5F9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65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F4444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Users are unaware of how they spend</a:t>
            </a:r>
          </a:p>
          <a:p>
            <a:pPr algn="l">
              <a:lnSpc>
                <a:spcPts val="2240"/>
              </a:lnSpc>
              <a:spcAft>
                <a:spcPts val="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  <a:r>
              <a:t>time online</a:t>
            </a:r>
          </a:p>
          <a:p>
            <a:pPr algn="l">
              <a:lnSpc>
                <a:spcPts val="2240"/>
              </a:lnSpc>
              <a:spcAft>
                <a:spcPts val="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</a:p>
          <a:p>
            <a:pPr algn="l">
              <a:lnSpc>
                <a:spcPts val="2240"/>
              </a:lnSpc>
              <a:spcAft>
                <a:spcPts val="2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No simple, privacy-focused system exists</a:t>
            </a:r>
          </a:p>
          <a:p>
            <a:pPr algn="l">
              <a:lnSpc>
                <a:spcPts val="2240"/>
              </a:lnSpc>
              <a:spcAft>
                <a:spcPts val="2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that visualizes browsing behavior</a:t>
            </a:r>
          </a:p>
          <a:p>
            <a:pPr algn="l">
              <a:lnSpc>
                <a:spcPts val="2240"/>
              </a:lnSpc>
              <a:spcAft>
                <a:spcPts val="2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across sessions in real-time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120640" cy="54864"/>
          </a:xfrm>
          <a:prstGeom prst="roundRect">
            <a:avLst>
              <a:gd name="adj" fmla="val 2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1920240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1F5F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965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DE80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432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  <a:r>
              <a:t>FlowPulse collects browser activity</a:t>
            </a:r>
          </a:p>
          <a:p>
            <a:pPr algn="l">
              <a:lnSpc>
                <a:spcPts val="2240"/>
              </a:lnSpc>
              <a:spcAft>
                <a:spcPts val="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  <a:r>
              <a:t>via Chrome extension</a:t>
            </a:r>
          </a:p>
          <a:p>
            <a:pPr algn="l">
              <a:lnSpc>
                <a:spcPts val="2240"/>
              </a:lnSpc>
              <a:spcAft>
                <a:spcPts val="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</a:p>
          <a:p>
            <a:pPr algn="l">
              <a:lnSpc>
                <a:spcPts val="2240"/>
              </a:lnSpc>
              <a:spcAft>
                <a:spcPts val="200"/>
              </a:spcAft>
              <a:defRPr sz="1600" b="0">
                <a:solidFill>
                  <a:srgbClr val="38BDF8"/>
                </a:solidFill>
                <a:latin typeface="Calibri"/>
              </a:defRPr>
            </a:pPr>
            <a:r>
              <a:t>→  Stores structured logs in Firebase</a:t>
            </a:r>
          </a:p>
          <a:p>
            <a:pPr algn="l">
              <a:lnSpc>
                <a:spcPts val="2240"/>
              </a:lnSpc>
              <a:spcAft>
                <a:spcPts val="200"/>
              </a:spcAft>
              <a:defRPr sz="1600" b="0">
                <a:solidFill>
                  <a:srgbClr val="38BDF8"/>
                </a:solidFill>
                <a:latin typeface="Calibri"/>
              </a:defRPr>
            </a:pPr>
            <a:r>
              <a:t>→  Processes analytics via Cloud Functions</a:t>
            </a:r>
          </a:p>
          <a:p>
            <a:pPr algn="l">
              <a:lnSpc>
                <a:spcPts val="2240"/>
              </a:lnSpc>
              <a:spcAft>
                <a:spcPts val="200"/>
              </a:spcAft>
              <a:defRPr sz="1600" b="0">
                <a:solidFill>
                  <a:srgbClr val="38BDF8"/>
                </a:solidFill>
                <a:latin typeface="Calibri"/>
              </a:defRPr>
            </a:pPr>
            <a:r>
              <a:t>→  Displays insights in React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Serverless Architecture  –  End-to-End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103120" cy="38404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103120" cy="54864"/>
          </a:xfrm>
          <a:prstGeom prst="roundRect">
            <a:avLst>
              <a:gd name="adj" fmla="val 2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F1F5F9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1F5F9"/>
                </a:solidFill>
                <a:latin typeface="Calibri"/>
              </a:defRPr>
            </a:pPr>
            <a:r>
              <a:t>Browser</a:t>
            </a:r>
            <a:br/>
            <a:r>
              <a:t>Extension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148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Tab tracking</a:t>
            </a:r>
          </a:p>
          <a:p>
            <a:pPr algn="ctr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Idle detection</a:t>
            </a:r>
          </a:p>
          <a:p>
            <a:pPr algn="ctr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Domain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38BD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103120"/>
            <a:ext cx="2103120" cy="38404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88920" y="2103120"/>
            <a:ext cx="2103120" cy="54864"/>
          </a:xfrm>
          <a:prstGeom prst="roundRect">
            <a:avLst>
              <a:gd name="adj" fmla="val 2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F1F5F9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1F5F9"/>
                </a:solidFill>
                <a:latin typeface="Calibri"/>
              </a:defRPr>
            </a:pPr>
            <a:r>
              <a:t>Firebase</a:t>
            </a:r>
            <a:br/>
            <a:r>
              <a:t>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1148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Google Sign-In</a:t>
            </a:r>
          </a:p>
          <a:p>
            <a:pPr algn="ctr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User isolation</a:t>
            </a:r>
          </a:p>
          <a:p>
            <a:pPr algn="ctr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Session mgmt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38BD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103120"/>
            <a:ext cx="2103120" cy="38404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2103120"/>
            <a:ext cx="2103120" cy="54864"/>
          </a:xfrm>
          <a:prstGeom prst="roundRect">
            <a:avLst>
              <a:gd name="adj" fmla="val 2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F1F5F9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1F5F9"/>
                </a:solidFill>
                <a:latin typeface="Calibri"/>
              </a:defRPr>
            </a:pPr>
            <a:r>
              <a:t>Cloud</a:t>
            </a:r>
            <a:br/>
            <a:r>
              <a:t>Firestore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41148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Activity logs</a:t>
            </a:r>
          </a:p>
          <a:p>
            <a:pPr algn="ctr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User settings</a:t>
            </a:r>
          </a:p>
          <a:p>
            <a:pPr algn="ctr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Daily stats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38BD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59" y="2103120"/>
            <a:ext cx="2103120" cy="38404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52359" y="2103120"/>
            <a:ext cx="2103120" cy="54864"/>
          </a:xfrm>
          <a:prstGeom prst="roundRect">
            <a:avLst>
              <a:gd name="adj" fmla="val 2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59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F1F5F9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1F5F9"/>
                </a:solidFill>
                <a:latin typeface="Calibri"/>
              </a:defRPr>
            </a:pPr>
            <a:r>
              <a:t>Cloud</a:t>
            </a:r>
            <a:br/>
            <a:r>
              <a:t>Functions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41148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Daily aggregation</a:t>
            </a:r>
          </a:p>
          <a:p>
            <a:pPr algn="ctr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Productivity score</a:t>
            </a:r>
          </a:p>
          <a:p>
            <a:pPr algn="ctr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Pattern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199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38BD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2103120"/>
            <a:ext cx="2103120" cy="38404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84080" y="2103120"/>
            <a:ext cx="2103120" cy="54864"/>
          </a:xfrm>
          <a:prstGeom prst="roundRect">
            <a:avLst>
              <a:gd name="adj" fmla="val 2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F1F5F9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1F5F9"/>
                </a:solidFill>
                <a:latin typeface="Calibri"/>
              </a:defRPr>
            </a:pPr>
            <a:r>
              <a:t>Web</a:t>
            </a:r>
            <a:br/>
            <a:r>
              <a:t>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41148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Charts &amp; graphs</a:t>
            </a:r>
          </a:p>
          <a:p>
            <a:pPr algn="ctr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Settings UI</a:t>
            </a:r>
          </a:p>
          <a:p>
            <a:pPr algn="ctr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Real-time sync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54864"/>
          </a:xfrm>
          <a:prstGeom prst="roundRect">
            <a:avLst>
              <a:gd name="adj" fmla="val 2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8BDF8"/>
                </a:solidFill>
                <a:latin typeface="Calibri"/>
              </a:defRPr>
            </a:pPr>
            <a:r>
              <a:t>Frontend (Web App)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  <a:r>
              <a:t>●  React</a:t>
            </a:r>
          </a:p>
          <a:p>
            <a:pPr algn="l">
              <a:lnSpc>
                <a:spcPts val="2880"/>
              </a:lnSpc>
              <a:spcAft>
                <a:spcPts val="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  <a:r>
              <a:t>●  Firebase SDK</a:t>
            </a:r>
          </a:p>
          <a:p>
            <a:pPr algn="l">
              <a:lnSpc>
                <a:spcPts val="2880"/>
              </a:lnSpc>
              <a:spcAft>
                <a:spcPts val="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  <a:r>
              <a:t>●  Recharts</a:t>
            </a:r>
          </a:p>
          <a:p>
            <a:pPr algn="l">
              <a:lnSpc>
                <a:spcPts val="2880"/>
              </a:lnSpc>
              <a:spcAft>
                <a:spcPts val="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  <a:r>
              <a:t>●  Tailwind CSS</a:t>
            </a:r>
          </a:p>
          <a:p>
            <a:pPr algn="l">
              <a:lnSpc>
                <a:spcPts val="2880"/>
              </a:lnSpc>
              <a:spcAft>
                <a:spcPts val="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  <a:r>
              <a:t>● 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474720" cy="45720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474720" cy="54864"/>
          </a:xfrm>
          <a:prstGeom prst="roundRect">
            <a:avLst>
              <a:gd name="adj" fmla="val 2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DE80"/>
                </a:solidFill>
                <a:latin typeface="Calibri"/>
              </a:defRPr>
            </a:pPr>
            <a:r>
              <a:t>Browser Extension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5603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  <a:r>
              <a:t>●  JavaScript</a:t>
            </a:r>
          </a:p>
          <a:p>
            <a:pPr algn="l">
              <a:lnSpc>
                <a:spcPts val="2880"/>
              </a:lnSpc>
              <a:spcAft>
                <a:spcPts val="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  <a:r>
              <a:t>●  Chrome APIs (MV3)</a:t>
            </a:r>
          </a:p>
          <a:p>
            <a:pPr algn="l">
              <a:lnSpc>
                <a:spcPts val="2880"/>
              </a:lnSpc>
              <a:spcAft>
                <a:spcPts val="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  <a:r>
              <a:t>●  Firebase SDK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474720" cy="45720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474720" cy="54864"/>
          </a:xfrm>
          <a:prstGeom prst="roundRect">
            <a:avLst>
              <a:gd name="adj" fmla="val 2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BBF24"/>
                </a:solidFill>
                <a:latin typeface="Calibri"/>
              </a:defRPr>
            </a:pPr>
            <a:r>
              <a:t>Backend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5603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  <a:r>
              <a:t>●  Firebase Authentication</a:t>
            </a:r>
          </a:p>
          <a:p>
            <a:pPr algn="l">
              <a:lnSpc>
                <a:spcPts val="2880"/>
              </a:lnSpc>
              <a:spcAft>
                <a:spcPts val="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  <a:r>
              <a:t>●  Cloud Firestore</a:t>
            </a:r>
          </a:p>
          <a:p>
            <a:pPr algn="l">
              <a:lnSpc>
                <a:spcPts val="2880"/>
              </a:lnSpc>
              <a:spcAft>
                <a:spcPts val="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  <a:r>
              <a:t>●  Cloud Functions (Node.js)</a:t>
            </a:r>
          </a:p>
          <a:p>
            <a:pPr algn="l">
              <a:lnSpc>
                <a:spcPts val="2880"/>
              </a:lnSpc>
              <a:spcAft>
                <a:spcPts val="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  <a:r>
              <a:t>●  Firebase Hosting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System Components — Browser Extension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72B6"/>
                </a:solidFill>
                <a:latin typeface="Calibri"/>
              </a:defRPr>
            </a:pPr>
            <a:r>
              <a:t>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20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●  Detect active tab and track time per domain</a:t>
            </a:r>
          </a:p>
          <a:p>
            <a:pPr algn="l">
              <a:lnSpc>
                <a:spcPts val="2700"/>
              </a:lnSpc>
              <a:spcAft>
                <a:spcPts val="20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●  Extract domain and page title from tabs</a:t>
            </a:r>
          </a:p>
          <a:p>
            <a:pPr algn="l">
              <a:lnSpc>
                <a:spcPts val="2700"/>
              </a:lnSpc>
              <a:spcAft>
                <a:spcPts val="20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●  Calculate browsing duration per site</a:t>
            </a:r>
          </a:p>
          <a:p>
            <a:pPr algn="l">
              <a:lnSpc>
                <a:spcPts val="2700"/>
              </a:lnSpc>
              <a:spcAft>
                <a:spcPts val="20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●  Send activity logs to Firestore in batches</a:t>
            </a:r>
          </a:p>
          <a:p>
            <a:pPr algn="l">
              <a:lnSpc>
                <a:spcPts val="2700"/>
              </a:lnSpc>
              <a:spcAft>
                <a:spcPts val="20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●  Sync user settings (tracking toggle, blocked sites)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KEY MODULES</a:t>
            </a:r>
          </a:p>
        </p:txBody>
      </p:sp>
      <p:sp>
        <p:nvSpPr>
          <p:cNvPr id="9" name="Oval 8"/>
          <p:cNvSpPr/>
          <p:nvPr/>
        </p:nvSpPr>
        <p:spPr>
          <a:xfrm>
            <a:off x="6675120" y="228600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2402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1F5F9"/>
                </a:solidFill>
                <a:latin typeface="Calibri"/>
              </a:defRPr>
            </a:pPr>
            <a:r>
              <a:t>Background 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560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Tab tracking, idle detection, alarm-based flush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0" y="320040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154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1F5F9"/>
                </a:solidFill>
                <a:latin typeface="Calibri"/>
              </a:defRPr>
            </a:pPr>
            <a:r>
              <a:t>Content 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474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Title extraction, focus/blur detection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411480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4069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1F5F9"/>
                </a:solidFill>
                <a:latin typeface="Calibri"/>
              </a:defRPr>
            </a:pPr>
            <a:r>
              <a:t>Popup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389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Quick stats, sign-in/out, toggle tracking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0" y="502920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983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1F5F9"/>
                </a:solidFill>
                <a:latin typeface="Calibri"/>
              </a:defRPr>
            </a:pPr>
            <a:r>
              <a:t>Auth Handler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53035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Google login flow, session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System Components — Backend &amp;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54864"/>
          </a:xfrm>
          <a:prstGeom prst="roundRect">
            <a:avLst>
              <a:gd name="adj" fmla="val 2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BBF24"/>
                </a:solidFill>
                <a:latin typeface="Calibri"/>
              </a:defRPr>
            </a:pPr>
            <a:r>
              <a:t>FIREBASE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20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Authentication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Google Sign-In, user-based data isolation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400" b="0">
                <a:solidFill>
                  <a:srgbClr val="F1F5F9"/>
                </a:solidFill>
                <a:latin typeface="Calibri"/>
              </a:defRPr>
            </a:pPr>
          </a:p>
          <a:p>
            <a:pPr algn="l">
              <a:lnSpc>
                <a:spcPts val="2100"/>
              </a:lnSpc>
              <a:spcAft>
                <a:spcPts val="20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Cloud Firestore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Activity logs, user settings, daily stats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400" b="0">
                <a:solidFill>
                  <a:srgbClr val="F1F5F9"/>
                </a:solidFill>
                <a:latin typeface="Calibri"/>
              </a:defRPr>
            </a:pPr>
          </a:p>
          <a:p>
            <a:pPr algn="l">
              <a:lnSpc>
                <a:spcPts val="2100"/>
              </a:lnSpc>
              <a:spcAft>
                <a:spcPts val="20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Cloud Functions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Daily aggregation, productivity scoring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Pattern detection, weekly trends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54864"/>
          </a:xfrm>
          <a:prstGeom prst="roundRect">
            <a:avLst>
              <a:gd name="adj" fmla="val 2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DE80"/>
                </a:solidFill>
                <a:latin typeface="Calibri"/>
              </a:defRPr>
            </a:pPr>
            <a:r>
              <a:t>WEB DASHBOARD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200"/>
              </a:spcAft>
              <a:defRPr sz="1400" b="0">
                <a:solidFill>
                  <a:srgbClr val="F1F5F9"/>
                </a:solidFill>
                <a:latin typeface="Calibri"/>
              </a:defRPr>
            </a:pPr>
            <a:r>
              <a:t>●  Daily activity chart (time per domain)</a:t>
            </a:r>
          </a:p>
          <a:p>
            <a:pPr algn="l">
              <a:lnSpc>
                <a:spcPts val="2380"/>
              </a:lnSpc>
              <a:spcAft>
                <a:spcPts val="200"/>
              </a:spcAft>
              <a:defRPr sz="1400" b="0">
                <a:solidFill>
                  <a:srgbClr val="F1F5F9"/>
                </a:solidFill>
                <a:latin typeface="Calibri"/>
              </a:defRPr>
            </a:pPr>
            <a:r>
              <a:t>●  Category breakdown (productive/distraction)</a:t>
            </a:r>
          </a:p>
          <a:p>
            <a:pPr algn="l">
              <a:lnSpc>
                <a:spcPts val="2380"/>
              </a:lnSpc>
              <a:spcAft>
                <a:spcPts val="200"/>
              </a:spcAft>
              <a:defRPr sz="1400" b="0">
                <a:solidFill>
                  <a:srgbClr val="F1F5F9"/>
                </a:solidFill>
                <a:latin typeface="Calibri"/>
              </a:defRPr>
            </a:pPr>
            <a:r>
              <a:t>●  Weekly trends (line/area charts)</a:t>
            </a:r>
          </a:p>
          <a:p>
            <a:pPr algn="l">
              <a:lnSpc>
                <a:spcPts val="2380"/>
              </a:lnSpc>
              <a:spcAft>
                <a:spcPts val="200"/>
              </a:spcAft>
              <a:defRPr sz="1400" b="0">
                <a:solidFill>
                  <a:srgbClr val="F1F5F9"/>
                </a:solidFill>
                <a:latin typeface="Calibri"/>
              </a:defRPr>
            </a:pPr>
            <a:r>
              <a:t>●  Productivity score gauge</a:t>
            </a:r>
          </a:p>
          <a:p>
            <a:pPr algn="l">
              <a:lnSpc>
                <a:spcPts val="2380"/>
              </a:lnSpc>
              <a:spcAft>
                <a:spcPts val="200"/>
              </a:spcAft>
              <a:defRPr sz="1400" b="0">
                <a:solidFill>
                  <a:srgbClr val="F1F5F9"/>
                </a:solidFill>
                <a:latin typeface="Calibri"/>
              </a:defRPr>
            </a:pPr>
            <a:r>
              <a:t>●  Enable/Disable tracking toggle</a:t>
            </a:r>
          </a:p>
          <a:p>
            <a:pPr algn="l">
              <a:lnSpc>
                <a:spcPts val="2380"/>
              </a:lnSpc>
              <a:spcAft>
                <a:spcPts val="200"/>
              </a:spcAft>
              <a:defRPr sz="1400" b="0">
                <a:solidFill>
                  <a:srgbClr val="F1F5F9"/>
                </a:solidFill>
                <a:latin typeface="Calibri"/>
              </a:defRPr>
            </a:pPr>
            <a:r>
              <a:t>●  Manage blocked sites list</a:t>
            </a:r>
          </a:p>
          <a:p>
            <a:pPr algn="l">
              <a:lnSpc>
                <a:spcPts val="2380"/>
              </a:lnSpc>
              <a:spcAft>
                <a:spcPts val="200"/>
              </a:spcAft>
              <a:defRPr sz="1400" b="0">
                <a:solidFill>
                  <a:srgbClr val="F1F5F9"/>
                </a:solidFill>
                <a:latin typeface="Calibri"/>
              </a:defRPr>
            </a:pPr>
            <a:r>
              <a:t>●  Real-time data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4A3B8"/>
                </a:solidFill>
                <a:latin typeface="Calibri"/>
              </a:defRPr>
            </a:pPr>
            <a:r>
              <a:t>Firestore Collections Structure — Nested under users/{userId}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97480" cy="438912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697480" cy="54864"/>
          </a:xfrm>
          <a:prstGeom prst="roundRect">
            <a:avLst>
              <a:gd name="adj" fmla="val 2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8BDF8"/>
                </a:solidFill>
                <a:latin typeface="Calibri"/>
              </a:defRPr>
            </a:pPr>
            <a:r>
              <a:t>users/{userId}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email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string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displayName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string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photoURL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string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createdAt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timestamp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28800"/>
            <a:ext cx="2697480" cy="438912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697480" cy="54864"/>
          </a:xfrm>
          <a:prstGeom prst="roundRect">
            <a:avLst>
              <a:gd name="adj" fmla="val 2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0116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settings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6888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trackingEnabled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boolean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blockedDomains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string[]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timezone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string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697480" cy="438912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2697480" cy="54864"/>
          </a:xfrm>
          <a:prstGeom prst="roundRect">
            <a:avLst>
              <a:gd name="adj" fmla="val 2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BBF24"/>
                </a:solidFill>
                <a:latin typeface="Calibri"/>
              </a:defRPr>
            </a:pPr>
            <a:r>
              <a:t>activityLogs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46888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url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string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domain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string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title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string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category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string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startTime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timestamp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endTime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timestamp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duration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number (sec)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828800"/>
            <a:ext cx="2697480" cy="438912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98280" y="1828800"/>
            <a:ext cx="2697480" cy="54864"/>
          </a:xfrm>
          <a:prstGeom prst="roundRect">
            <a:avLst>
              <a:gd name="adj" fmla="val 2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0116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472B6"/>
                </a:solidFill>
                <a:latin typeface="Calibri"/>
              </a:defRPr>
            </a:pPr>
            <a:r>
              <a:t>dailyStats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46888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totalDuration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number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productiveTime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number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distractionTime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number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topDomains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map[]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focusScore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number 0-100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peakHour</a:t>
            </a:r>
          </a:p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number 0-23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Functional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75488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783080"/>
            <a:ext cx="777240" cy="320040"/>
          </a:xfrm>
          <a:prstGeom prst="roundRect">
            <a:avLst>
              <a:gd name="adj" fmla="val 2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792224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FR-01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792224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User can sign in securely via Google 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221992"/>
            <a:ext cx="777240" cy="320040"/>
          </a:xfrm>
          <a:prstGeom prst="roundRect">
            <a:avLst>
              <a:gd name="adj" fmla="val 2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231136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FR-02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23113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Extension detects active tab and tracks browsing duration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660904"/>
            <a:ext cx="777240" cy="320040"/>
          </a:xfrm>
          <a:prstGeom prst="roundRect">
            <a:avLst>
              <a:gd name="adj" fmla="val 2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67004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FR-03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6700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Activity logs are stored per user in Firestore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099816"/>
            <a:ext cx="777240" cy="320040"/>
          </a:xfrm>
          <a:prstGeom prst="roundRect">
            <a:avLst>
              <a:gd name="adj" fmla="val 2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10896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FR-04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1089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Dashboard displays real-time daily 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538728"/>
            <a:ext cx="777240" cy="320040"/>
          </a:xfrm>
          <a:prstGeom prst="roundRect">
            <a:avLst>
              <a:gd name="adj" fmla="val 2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54787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FR-05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54787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Dashboard displays weekly trend charts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3977640"/>
            <a:ext cx="777240" cy="320040"/>
          </a:xfrm>
          <a:prstGeom prst="roundRect">
            <a:avLst>
              <a:gd name="adj" fmla="val 2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986784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FR-06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986784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Dashboard shows productivity 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416552"/>
            <a:ext cx="777240" cy="320040"/>
          </a:xfrm>
          <a:prstGeom prst="roundRect">
            <a:avLst>
              <a:gd name="adj" fmla="val 2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425696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FR-07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442569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User can enable/disable tracking from dashboard and extension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4855464"/>
            <a:ext cx="777240" cy="320040"/>
          </a:xfrm>
          <a:prstGeom prst="roundRect">
            <a:avLst>
              <a:gd name="adj" fmla="val 2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86460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FR-08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486460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User can manage a blocked-sites list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5294376"/>
            <a:ext cx="777240" cy="320040"/>
          </a:xfrm>
          <a:prstGeom prst="roundRect">
            <a:avLst>
              <a:gd name="adj" fmla="val 2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30352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FR-09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53035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System aggregates daily usage via Cloud Functions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5733288"/>
            <a:ext cx="777240" cy="320040"/>
          </a:xfrm>
          <a:prstGeom prst="roundRect">
            <a:avLst>
              <a:gd name="adj" fmla="val 2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574243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FR-10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574243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Settings sync in real-time between extension and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Non-Functional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1F5F9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BBF24"/>
                </a:solidFill>
                <a:latin typeface="Calibri"/>
              </a:defRPr>
            </a:pPr>
            <a:r>
              <a:t>NFR-01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645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1F5F9"/>
                </a:solidFill>
                <a:latin typeface="Calibri"/>
              </a:defRPr>
            </a:pPr>
            <a:r>
              <a:t>Secure User Isolation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574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Each user sees only their own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1F5F9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645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BBF24"/>
                </a:solidFill>
                <a:latin typeface="Calibri"/>
              </a:defRPr>
            </a:pPr>
            <a:r>
              <a:t>NFR-02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645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1F5F9"/>
                </a:solidFill>
                <a:latin typeface="Calibri"/>
              </a:defRPr>
            </a:pPr>
            <a:r>
              <a:t>Scalable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574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Firestore sub-collections for efficient queries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8892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1F5F9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BBF24"/>
                </a:solidFill>
                <a:latin typeface="Calibri"/>
              </a:defRPr>
            </a:pPr>
            <a:r>
              <a:t>NFR-03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880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1F5F9"/>
                </a:solidFill>
                <a:latin typeface="Calibri"/>
              </a:defRPr>
            </a:pPr>
            <a:r>
              <a:t>Low Latency Logging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918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Batch writes, minimal network calls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1F5F9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BBF24"/>
                </a:solidFill>
                <a:latin typeface="Calibri"/>
              </a:defRPr>
            </a:pPr>
            <a:r>
              <a:t>NFR-04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880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1F5F9"/>
                </a:solidFill>
                <a:latin typeface="Calibri"/>
              </a:defRPr>
            </a:pPr>
            <a:r>
              <a:t>Real-Time 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2918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Firestore onSnapshot listeners for settings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02336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1F5F9"/>
                </a:solidFill>
                <a:latin typeface="Calibri"/>
              </a:defRPr>
            </a:pPr>
            <a:r>
              <a:t>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114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BBF24"/>
                </a:solidFill>
                <a:latin typeface="Calibri"/>
              </a:defRPr>
            </a:pPr>
            <a:r>
              <a:t>NFR-05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4114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1F5F9"/>
                </a:solidFill>
                <a:latin typeface="Calibri"/>
              </a:defRPr>
            </a:pPr>
            <a:r>
              <a:t>Minimal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5262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Background script optimized for performance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02336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1F5F9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114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BBF24"/>
                </a:solidFill>
                <a:latin typeface="Calibri"/>
              </a:defRPr>
            </a:pPr>
            <a:r>
              <a:t>NFR-06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114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1F5F9"/>
                </a:solidFill>
                <a:latin typeface="Calibri"/>
              </a:defRPr>
            </a:pPr>
            <a:r>
              <a:t>Responsive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5262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Dashboard works on desktop and tablet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25780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1F5F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349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BBF24"/>
                </a:solidFill>
                <a:latin typeface="Calibri"/>
              </a:defRPr>
            </a:pPr>
            <a:r>
              <a:t>NFR-07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5349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1F5F9"/>
                </a:solidFill>
                <a:latin typeface="Calibri"/>
              </a:defRPr>
            </a:pPr>
            <a:r>
              <a:t>Data Validation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7607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Firestore security rules enforce schema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Development Phases (1–3)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66160" cy="475488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66160" cy="54864"/>
          </a:xfrm>
          <a:prstGeom prst="roundRect">
            <a:avLst>
              <a:gd name="adj" fmla="val 2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8BDF8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F5F9"/>
                </a:solidFill>
                <a:latin typeface="Calibri"/>
              </a:defRPr>
            </a:pPr>
            <a:r>
              <a:t>Project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Create Firebase project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Enable Auth (Google provider)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Initialize Cloud Firestore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Define security rules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Set up React + Vite + Tailwind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Set up extension scaffold (MV3)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Configure Firebase SDK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566160" cy="475488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66160" cy="54864"/>
          </a:xfrm>
          <a:prstGeom prst="roundRect">
            <a:avLst>
              <a:gd name="adj" fmla="val 2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ADE80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F5F9"/>
                </a:solidFill>
                <a:latin typeface="Calibri"/>
              </a:defRPr>
            </a:pPr>
            <a:r>
              <a:t>Extension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6032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Active tab detection (chrome.tabs)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Idle state detection (chrome.idle)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Track duration per tab session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Extract domain + title from URLs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Batch logs → push to Firestore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Google Sign-In in popup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Build popup UI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Sync settings from Firestore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566160" cy="475488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566160" cy="54864"/>
          </a:xfrm>
          <a:prstGeom prst="roundRect">
            <a:avLst>
              <a:gd name="adj" fmla="val 2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BBF24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F5F9"/>
                </a:solidFill>
                <a:latin typeface="Calibri"/>
              </a:defRPr>
            </a:pPr>
            <a:r>
              <a:t>Web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6032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Firebase Auth (login/logout)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Dashboard layout + sidebar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Daily activity chart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Category breakdown (PieChart)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Weekly trends (LineChart)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Productivity score gauge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Settings page</a:t>
            </a:r>
          </a:p>
          <a:p>
            <a:pPr algn="l">
              <a:lnSpc>
                <a:spcPts val="192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□  Real-time data (onSnapshot)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Development Phases (4–6)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66160" cy="54864"/>
          </a:xfrm>
          <a:prstGeom prst="roundRect">
            <a:avLst>
              <a:gd name="adj" fmla="val 2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72B6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F5F9"/>
                </a:solidFill>
                <a:latin typeface="Calibri"/>
              </a:defRPr>
            </a:pPr>
            <a:r>
              <a:t>Backend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□  Scheduled daily aggregation function</a:t>
            </a:r>
          </a:p>
          <a:p>
            <a:pPr algn="l">
              <a:lnSpc>
                <a:spcPts val="221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□  Compute productivity score per day</a:t>
            </a:r>
          </a:p>
          <a:p>
            <a:pPr algn="l">
              <a:lnSpc>
                <a:spcPts val="221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□  Compute top domains + peak hour</a:t>
            </a:r>
          </a:p>
          <a:p>
            <a:pPr algn="l">
              <a:lnSpc>
                <a:spcPts val="221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□  Write results to dailyStats</a:t>
            </a:r>
          </a:p>
          <a:p>
            <a:pPr algn="l">
              <a:lnSpc>
                <a:spcPts val="221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□  Pattern detection for weekly trends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66160" cy="54864"/>
          </a:xfrm>
          <a:prstGeom prst="roundRect">
            <a:avLst>
              <a:gd name="adj" fmla="val 2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78BFA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F5F9"/>
                </a:solidFill>
                <a:latin typeface="Calibri"/>
              </a:defRPr>
            </a:pPr>
            <a:r>
              <a:t>Optimization &amp;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603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□  Firestore security rules (user isolation)</a:t>
            </a:r>
          </a:p>
          <a:p>
            <a:pPr algn="l">
              <a:lnSpc>
                <a:spcPts val="221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□  Input validation in Cloud Functions</a:t>
            </a:r>
          </a:p>
          <a:p>
            <a:pPr algn="l">
              <a:lnSpc>
                <a:spcPts val="221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□  Rate limiting for activity writes</a:t>
            </a:r>
          </a:p>
          <a:p>
            <a:pPr algn="l">
              <a:lnSpc>
                <a:spcPts val="221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□  Performance tuning (batch writes)</a:t>
            </a:r>
          </a:p>
          <a:p>
            <a:pPr algn="l">
              <a:lnSpc>
                <a:spcPts val="221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□  Error handling and logging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566160" cy="54864"/>
          </a:xfrm>
          <a:prstGeom prst="roundRect">
            <a:avLst>
              <a:gd name="adj" fmla="val 2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8BDF8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F5F9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603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□  Package Chrome extension</a:t>
            </a:r>
          </a:p>
          <a:p>
            <a:pPr algn="l">
              <a:lnSpc>
                <a:spcPts val="221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□  Deploy web app to Firebase Hosting</a:t>
            </a:r>
          </a:p>
          <a:p>
            <a:pPr algn="l">
              <a:lnSpc>
                <a:spcPts val="221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□  Deploy Cloud Functions to prod</a:t>
            </a:r>
          </a:p>
          <a:p>
            <a:pPr algn="l">
              <a:lnSpc>
                <a:spcPts val="221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□  Configure production env vars</a:t>
            </a:r>
          </a:p>
          <a:p>
            <a:pPr algn="l">
              <a:lnSpc>
                <a:spcPts val="221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□  Final end-to-end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Completion Criteria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4A3B8"/>
                </a:solidFill>
                <a:latin typeface="Calibri"/>
              </a:defRPr>
            </a:pPr>
            <a:r>
              <a:t>Project is considered COMPLETE when all criteria are met: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828800"/>
            <a:ext cx="8503920" cy="45720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103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12140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Users can sign in via Google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514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3288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Extension tracks browsing activity accurately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9260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94436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Activity logs are stored in Firestore per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3375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35584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Dashboard displays daily and weekly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7490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76732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Productivity score is calculated and displayed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160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17880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Settings sync in real-time (extension ↔ dashboard)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572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9028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Data is secure and isolated per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983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00176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System performs reliably under multiple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394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41324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Extension is packaged and loadable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806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82472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1F5F9"/>
                </a:solidFill>
                <a:latin typeface="Calibri"/>
              </a:defRPr>
            </a:pPr>
            <a:r>
              <a:t>Web app is deployed and accessible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2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1F5F9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00400"/>
            <a:ext cx="210312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8BDF8"/>
                </a:solidFill>
                <a:latin typeface="Calibri"/>
              </a:defRPr>
            </a:pPr>
            <a:r>
              <a:t>FlowPulse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A Smarter Way to Understand Your Browsing Habits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5029200"/>
            <a:ext cx="1097280" cy="10972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3200" y="5486400"/>
            <a:ext cx="731520" cy="7315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0" y="5029200"/>
            <a:ext cx="1097280" cy="109728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0" y="548640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4A3B8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